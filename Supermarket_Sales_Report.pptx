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831db6fc3c8406b" /><Relationship Type="http://schemas.openxmlformats.org/package/2006/relationships/metadata/core-properties" Target="/docProps/core.xml" Id="R3667f6dc7b2e4e39" /><Relationship Type="http://schemas.openxmlformats.org/officeDocument/2006/relationships/extended-properties" Target="/docProps/app.xml" Id="R3fea9d05100e4c39" /><Relationship Type="http://schemas.openxmlformats.org/officeDocument/2006/relationships/custom-properties" Target="/docProps/custom.xml" Id="Rca5b13b159a84be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fbd59b41681249df"/>
  </p:notesMasterIdLst>
  <p:sldIdLst>
    <p:sldId id="256" r:id="R7df474ee7d094ec5"/>
    <p:sldId id="257" r:id="Rb15a4e13e3df4005"/>
    <p:sldId id="258" r:id="R0abc461d4dfe4918"/>
    <p:sldId id="259" r:id="R0a592fa3f01f48ed"/>
    <p:sldId id="260" r:id="R509668e3c4a245c9"/>
    <p:sldId id="261" r:id="Rf757fe39bb824dd6"/>
    <p:sldId id="262" r:id="R9e5b9cf382314b86"/>
    <p:sldId id="263" r:id="R3353e50b65a84f22"/>
    <p:sldId id="264" r:id="R19f7810ad1544fb7"/>
    <p:sldId id="265" r:id="R0c9a89dd52074d4c"/>
    <p:sldId id="266" r:id="R1521cd7b04b74d0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df474ee7d094ec5" /><Relationship Type="http://schemas.openxmlformats.org/officeDocument/2006/relationships/notesMaster" Target="/ppt/notesMasters/notesMaster1.xml" Id="Rfbd59b41681249df" /><Relationship Type="http://schemas.openxmlformats.org/officeDocument/2006/relationships/slide" Target="/ppt/slides/slide2.xml" Id="Rb15a4e13e3df4005" /><Relationship Type="http://schemas.openxmlformats.org/officeDocument/2006/relationships/slide" Target="/ppt/slides/slide3.xml" Id="R0abc461d4dfe4918" /><Relationship Type="http://schemas.openxmlformats.org/officeDocument/2006/relationships/slide" Target="/ppt/slides/slide4.xml" Id="R0a592fa3f01f48ed" /><Relationship Type="http://schemas.openxmlformats.org/officeDocument/2006/relationships/slide" Target="/ppt/slides/slide5.xml" Id="R509668e3c4a245c9" /><Relationship Type="http://schemas.openxmlformats.org/officeDocument/2006/relationships/slide" Target="/ppt/slides/slide6.xml" Id="Rf757fe39bb824dd6" /><Relationship Type="http://schemas.openxmlformats.org/officeDocument/2006/relationships/slide" Target="/ppt/slides/slide7.xml" Id="R9e5b9cf382314b86" /><Relationship Type="http://schemas.openxmlformats.org/officeDocument/2006/relationships/slide" Target="/ppt/slides/slide8.xml" Id="R3353e50b65a84f22" /><Relationship Type="http://schemas.openxmlformats.org/officeDocument/2006/relationships/slide" Target="/ppt/slides/slide9.xml" Id="R19f7810ad1544fb7" /><Relationship Type="http://schemas.openxmlformats.org/officeDocument/2006/relationships/slide" Target="/ppt/slides/slide10.xml" Id="R0c9a89dd52074d4c" /><Relationship Type="http://schemas.openxmlformats.org/officeDocument/2006/relationships/slide" Target="/ppt/slides/slide11.xml" Id="R1521cd7b04b74d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eda2030f2434397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4c9c963fa264c8d" /><Relationship Type="http://schemas.openxmlformats.org/officeDocument/2006/relationships/slide" Target="/ppt/slides/slide1.xml" Id="Rc08008e9d4004a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e3eab34baf2409f" /><Relationship Type="http://schemas.openxmlformats.org/officeDocument/2006/relationships/slide" Target="/ppt/slides/slide2.xml" Id="R771fb08be16f48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41d6d4c2a4f422a" /><Relationship Type="http://schemas.openxmlformats.org/officeDocument/2006/relationships/slide" Target="/ppt/slides/slide3.xml" Id="R723aefc771174b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3bb4dfcfbf04e0a" /><Relationship Type="http://schemas.openxmlformats.org/officeDocument/2006/relationships/slide" Target="/ppt/slides/slide4.xml" Id="R3db0e0abdd494e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f6d5b2d4f33471f" /><Relationship Type="http://schemas.openxmlformats.org/officeDocument/2006/relationships/slide" Target="/ppt/slides/slide5.xml" Id="Rd88f494bbc9140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7cf580809f34c8e" /><Relationship Type="http://schemas.openxmlformats.org/officeDocument/2006/relationships/slide" Target="/ppt/slides/slide6.xml" Id="R026abf1d248641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8264f5419b449fa" /><Relationship Type="http://schemas.openxmlformats.org/officeDocument/2006/relationships/slide" Target="/ppt/slides/slide7.xml" Id="Rce268cd9382e4c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4ec1735bacf40a8" /><Relationship Type="http://schemas.openxmlformats.org/officeDocument/2006/relationships/slide" Target="/ppt/slides/slide8.xml" Id="R7ba9a97a62f242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67ff7a4d1c45a9" /><Relationship Type="http://schemas.openxmlformats.org/officeDocument/2006/relationships/slide" Target="/ppt/slides/slide9.xml" Id="R005477fb825a41e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746ad34a865442b" /><Relationship Type="http://schemas.openxmlformats.org/officeDocument/2006/relationships/slide" Target="/ppt/slides/slide10.xml" Id="R6d56adc5b3c844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75d2cc67b904d3e" /><Relationship Type="http://schemas.openxmlformats.org/officeDocument/2006/relationships/slide" Target="/ppt/slides/slide11.xml" Id="R0fa78e74f23b4d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Project: Supermarket Sales Analysis using Python and Streamlit. Dataset covers 500 transactions across 4 cities from January to July 2026.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Agenda slide. 10 content sections covering data collection, quality, analysis, and business recommendations.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Project overview slide. Objective, 6-step scope, and technology stack used.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Dataset description slide. 500 rows, 13 columns, 4 cities, Jan-Jul 2026. Key columns explained.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Data quality slide. All 10 checks passed. Dataset is perfectly clean with 0 missing values, 0 duplicates, and no invalid numerics.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Category analysis. Beverages #1 at Rs56,108. Bakery highest rated at 4.24. Top 4 categories = 76% revenue.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City and branch slide. Mumbai #1 at Rs72,469. Bengaluru highest rated at 4.09. Distribution is balanced across 4 cities.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Trend analysis. Peak month: April 2026 with Rs52,570. Peak day: Monday with Rs42,602. February slowest month.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Customer and payment slide. Members 41% more revenue. Gender near-even. Digital payments 78%. UPI is top method.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Business recommendations. 8 actionable decisions derived from data analysis covering categories, cities, payment, loyalty, timing, and basket growth.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slide. Summary of key findings. Built with Python, Pandas, Matplotlib, Seaborn, Streamlit.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003b161214b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0cb64f75784c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6fb7af92c54e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c77670a26742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0cd786b3749fd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bdc953d11b1642c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daee9a3034b5b" /><Relationship Type="http://schemas.openxmlformats.org/officeDocument/2006/relationships/notesSlide" Target="/ppt/notesSlides/notesSlide1.xml" Id="Rbb3da481387748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64a3ecbfe41b6" /><Relationship Type="http://schemas.openxmlformats.org/officeDocument/2006/relationships/notesSlide" Target="/ppt/notesSlides/notesSlide2.xml" Id="Rf01aeef50a3c42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7c23b73804a13" /><Relationship Type="http://schemas.openxmlformats.org/officeDocument/2006/relationships/notesSlide" Target="/ppt/notesSlides/notesSlide3.xml" Id="R06501171ea914f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8ede4d02b44e0" /><Relationship Type="http://schemas.openxmlformats.org/officeDocument/2006/relationships/notesSlide" Target="/ppt/notesSlides/notesSlide4.xml" Id="R28141713cd1843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5f0f8ec504177" /><Relationship Type="http://schemas.openxmlformats.org/officeDocument/2006/relationships/notesSlide" Target="/ppt/notesSlides/notesSlide5.xml" Id="R1a8c5b33969c48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5b4d32a40f4849" /><Relationship Type="http://schemas.openxmlformats.org/officeDocument/2006/relationships/notesSlide" Target="/ppt/notesSlides/notesSlide6.xml" Id="R2d468eb5b7194b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1137939174fb0" /><Relationship Type="http://schemas.openxmlformats.org/officeDocument/2006/relationships/notesSlide" Target="/ppt/notesSlides/notesSlide7.xml" Id="R152dc6989f914e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8a9f9bf06410e" /><Relationship Type="http://schemas.openxmlformats.org/officeDocument/2006/relationships/notesSlide" Target="/ppt/notesSlides/notesSlide8.xml" Id="Rb716e9e80a874d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bd1bfb8a1459a" /><Relationship Type="http://schemas.openxmlformats.org/officeDocument/2006/relationships/notesSlide" Target="/ppt/notesSlides/notesSlide9.xml" Id="Re999a3064fb74d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e7305a93c41ce" /><Relationship Type="http://schemas.openxmlformats.org/officeDocument/2006/relationships/notesSlide" Target="/ppt/notesSlides/notesSlide10.xml" Id="Rf9921b10ce214e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aa67e45894efd" /><Relationship Type="http://schemas.openxmlformats.org/officeDocument/2006/relationships/notesSlide" Target="/ppt/notesSlides/notesSlide11.xml" Id="R16f81f39394d45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000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01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02" name="Tagline"/>
          <p:cNvSpPr txBox="1"/>
          <p:nvPr/>
        </p:nvSpPr>
        <p:spPr>
          <a:xfrm xmlns:a="http://schemas.openxmlformats.org/drawingml/2006/main">
            <a:off x="540000" y="6667200"/>
            <a:ext cx="10800000" cy="19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0">
                <a:solidFill>
                  <a:srgbClr val="FFFFFF"/>
                </a:solidFill>
              </a:rPr>
              <a:t>IBM SkillsBuild · Data Analytics with AI Internship 2026</a:t>
            </a:r>
          </a:p>
        </p:txBody>
      </p:sp>
      <p:sp>
        <p:nvSpPr>
          <p:cNvPr id="100003" name="Icon"/>
          <p:cNvSpPr txBox="1"/>
          <p:nvPr/>
        </p:nvSpPr>
        <p:spPr>
          <a:xfrm xmlns:a="http://schemas.openxmlformats.org/drawingml/2006/main">
            <a:off x="4860000" y="792000"/>
            <a:ext cx="252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100004" name="Title"/>
          <p:cNvSpPr txBox="1"/>
          <p:nvPr/>
        </p:nvSpPr>
        <p:spPr>
          <a:xfrm xmlns:a="http://schemas.openxmlformats.org/drawingml/2006/main">
            <a:off x="540000" y="1980000"/>
            <a:ext cx="111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FFFFF"/>
                </a:solidFill>
                <a:latin typeface="Calibri"/>
                <a:ea typeface="Calibri"/>
              </a:rPr>
              <a:t>Supermarket Sales Analysis</a:t>
            </a:r>
          </a:p>
        </p:txBody>
      </p:sp>
      <p:sp>
        <p:nvSpPr>
          <p:cNvPr id="100005" name="Subtitle"/>
          <p:cNvSpPr txBox="1"/>
          <p:nvPr/>
        </p:nvSpPr>
        <p:spPr>
          <a:xfrm xmlns:a="http://schemas.openxmlformats.org/drawingml/2006/main">
            <a:off x="540000" y="3204000"/>
            <a:ext cx="111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0">
                <a:solidFill>
                  <a:srgbClr val="A8C8F0"/>
                </a:solidFill>
                <a:latin typeface="Calibri"/>
                <a:ea typeface="Calibri"/>
              </a:rPr>
              <a:t>Data Analytics Project Report</a:t>
            </a:r>
          </a:p>
        </p:txBody>
      </p:sp>
      <p:sp>
        <p:nvSpPr>
          <p:cNvPr id="100006" name="Meta"/>
          <p:cNvSpPr txBox="1"/>
          <p:nvPr/>
        </p:nvSpPr>
        <p:spPr>
          <a:xfrm xmlns:a="http://schemas.openxmlformats.org/drawingml/2006/main">
            <a:off x="540000" y="3888000"/>
            <a:ext cx="111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D0E4F7"/>
                </a:solidFill>
                <a:latin typeface="Calibri"/>
                <a:ea typeface="Calibri"/>
              </a:rPr>
              <a:t>Dataset: supermarket_sales_500_rows.csv   |   500 Transactions   |   Jan – Jul 2026</a:t>
            </a:r>
          </a:p>
        </p:txBody>
      </p:sp>
      <p:sp>
        <p:nvSpPr>
          <p:cNvPr id="100007" name="Tech"/>
          <p:cNvSpPr txBox="1"/>
          <p:nvPr/>
        </p:nvSpPr>
        <p:spPr>
          <a:xfrm xmlns:a="http://schemas.openxmlformats.org/drawingml/2006/main">
            <a:off x="540000" y="4392000"/>
            <a:ext cx="1116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A8C8F0"/>
                </a:solidFill>
                <a:latin typeface="Calibri"/>
                <a:ea typeface="Calibri"/>
              </a:rPr>
              <a:t>Python  ·  Pandas  ·  Matplotlib  ·  Seaborn  ·  Streamlit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8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09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FFFFFF"/>
                </a:solidFill>
              </a:rPr>
              <a:t>IBM SkillsBuild · Data Analytics with AI Internship 2026</a:t>
            </a:r>
          </a:p>
        </p:txBody>
      </p:sp>
      <p:sp>
        <p:nvSpPr>
          <p:cNvPr id="100010" name="Title"/>
          <p:cNvSpPr txBox="1"/>
          <p:nvPr/>
        </p:nvSpPr>
        <p:spPr>
          <a:xfrm xmlns:a="http://schemas.openxmlformats.org/drawingml/2006/main">
            <a:off x="540000" y="288000"/>
            <a:ext cx="1116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E3A5F"/>
                </a:solidFill>
                <a:latin typeface="Calibri"/>
                <a:ea typeface="Calibri"/>
              </a:rPr>
              <a:t>Table of Contents</a:t>
            </a:r>
          </a:p>
        </p:txBody>
      </p:sp>
      <p:sp>
        <p:nvSpPr>
          <p:cNvPr id="100011" name="Divider"/>
          <p:cNvSpPr txBox="1"/>
          <p:nvPr/>
        </p:nvSpPr>
        <p:spPr>
          <a:xfrm xmlns:a="http://schemas.openxmlformats.org/drawingml/2006/main">
            <a:off x="540000" y="864000"/>
            <a:ext cx="1116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012" name="Col1"/>
          <p:cNvSpPr txBox="1"/>
          <p:nvPr/>
        </p:nvSpPr>
        <p:spPr>
          <a:xfrm xmlns:a="http://schemas.openxmlformats.org/drawingml/2006/main">
            <a:off x="540000" y="1008000"/>
            <a:ext cx="5400000" cy="50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F2328"/>
                </a:solidFill>
                <a:latin typeface="Calibri"/>
                <a:ea typeface="Calibri"/>
              </a:rPr>
              <a:t>01  Project Overview</a:t>
            </a:r>
          </a:p>
          <a:p xmlns:a="http://schemas.openxmlformats.org/drawingml/2006/main">
            <a:r>
              <a:rPr lang="en-US" sz="1600" b="0">
                <a:solidFill>
                  <a:srgbClr val="1F2328"/>
                </a:solidFill>
                <a:latin typeface="Calibri"/>
                <a:ea typeface="Calibri"/>
              </a:rPr>
              <a:t>02  Dataset Description</a:t>
            </a:r>
          </a:p>
          <a:p xmlns:a="http://schemas.openxmlformats.org/drawingml/2006/main">
            <a:r>
              <a:rPr lang="en-US" sz="1600" b="0">
                <a:solidFill>
                  <a:srgbClr val="1F2328"/>
                </a:solidFill>
                <a:latin typeface="Calibri"/>
                <a:ea typeface="Calibri"/>
              </a:rPr>
              <a:t>03  Data Quality &amp; Cleaning</a:t>
            </a:r>
          </a:p>
          <a:p xmlns:a="http://schemas.openxmlformats.org/drawingml/2006/main">
            <a:r>
              <a:rPr lang="en-US" sz="1600" b="0">
                <a:solidFill>
                  <a:srgbClr val="1F2328"/>
                </a:solidFill>
                <a:latin typeface="Calibri"/>
                <a:ea typeface="Calibri"/>
              </a:rPr>
              <a:t>04  Sales Calculation (Qty × Price)</a:t>
            </a:r>
          </a:p>
          <a:p xmlns:a="http://schemas.openxmlformats.org/drawingml/2006/main">
            <a:r>
              <a:rPr lang="en-US" sz="1600" b="0">
                <a:solidFill>
                  <a:srgbClr val="1F2328"/>
                </a:solidFill>
                <a:latin typeface="Calibri"/>
                <a:ea typeface="Calibri"/>
              </a:rPr>
              <a:t>05  Key Performance Indicators</a:t>
            </a:r>
          </a:p>
        </p:txBody>
      </p:sp>
      <p:sp>
        <p:nvSpPr>
          <p:cNvPr id="100013" name="Col2"/>
          <p:cNvSpPr txBox="1"/>
          <p:nvPr/>
        </p:nvSpPr>
        <p:spPr>
          <a:xfrm xmlns:a="http://schemas.openxmlformats.org/drawingml/2006/main">
            <a:off x="6120000" y="1008000"/>
            <a:ext cx="5400000" cy="50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F2328"/>
                </a:solidFill>
                <a:latin typeface="Calibri"/>
                <a:ea typeface="Calibri"/>
              </a:rPr>
              <a:t>06  Sales by Category</a:t>
            </a:r>
          </a:p>
          <a:p xmlns:a="http://schemas.openxmlformats.org/drawingml/2006/main">
            <a:r>
              <a:rPr lang="en-US" sz="1600" b="0">
                <a:solidFill>
                  <a:srgbClr val="1F2328"/>
                </a:solidFill>
                <a:latin typeface="Calibri"/>
                <a:ea typeface="Calibri"/>
              </a:rPr>
              <a:t>07  City &amp; Branch Performance</a:t>
            </a:r>
          </a:p>
          <a:p xmlns:a="http://schemas.openxmlformats.org/drawingml/2006/main">
            <a:r>
              <a:rPr lang="en-US" sz="1600" b="0">
                <a:solidFill>
                  <a:srgbClr val="1F2328"/>
                </a:solidFill>
                <a:latin typeface="Calibri"/>
                <a:ea typeface="Calibri"/>
              </a:rPr>
              <a:t>08  Trend Analysis</a:t>
            </a:r>
          </a:p>
          <a:p xmlns:a="http://schemas.openxmlformats.org/drawingml/2006/main">
            <a:r>
              <a:rPr lang="en-US" sz="1600" b="0">
                <a:solidFill>
                  <a:srgbClr val="1F2328"/>
                </a:solidFill>
                <a:latin typeface="Calibri"/>
                <a:ea typeface="Calibri"/>
              </a:rPr>
              <a:t>09  Customer &amp; Payment Insights</a:t>
            </a:r>
          </a:p>
          <a:p xmlns:a="http://schemas.openxmlformats.org/drawingml/2006/main">
            <a:r>
              <a:rPr lang="en-US" sz="1600" b="0">
                <a:solidFill>
                  <a:srgbClr val="1F2328"/>
                </a:solidFill>
                <a:latin typeface="Calibri"/>
                <a:ea typeface="Calibri"/>
              </a:rPr>
              <a:t>10  Business Recommendations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4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15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FFFFFF"/>
                </a:solidFill>
              </a:rPr>
              <a:t>IBM SkillsBuild · Data Analytics with AI Internship 2026</a:t>
            </a:r>
          </a:p>
        </p:txBody>
      </p:sp>
      <p:sp>
        <p:nvSpPr>
          <p:cNvPr id="100016" name="SlideNum"/>
          <p:cNvSpPr txBox="1"/>
          <p:nvPr/>
        </p:nvSpPr>
        <p:spPr>
          <a:xfrm xmlns:a="http://schemas.openxmlformats.org/drawingml/2006/main">
            <a:off x="10800000" y="216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B82D4"/>
                </a:solidFill>
              </a:rPr>
              <a:t>01</a:t>
            </a:r>
          </a:p>
        </p:txBody>
      </p:sp>
      <p:sp>
        <p:nvSpPr>
          <p:cNvPr id="100017" name="Title"/>
          <p:cNvSpPr txBox="1"/>
          <p:nvPr/>
        </p:nvSpPr>
        <p:spPr>
          <a:xfrm xmlns:a="http://schemas.openxmlformats.org/drawingml/2006/main">
            <a:off x="540000" y="288000"/>
            <a:ext cx="100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E3A5F"/>
                </a:solidFill>
                <a:latin typeface="Calibri"/>
                <a:ea typeface="Calibri"/>
              </a:rPr>
              <a:t>Project Overview</a:t>
            </a:r>
          </a:p>
        </p:txBody>
      </p:sp>
      <p:sp>
        <p:nvSpPr>
          <p:cNvPr id="100018" name="Divider"/>
          <p:cNvSpPr txBox="1"/>
          <p:nvPr/>
        </p:nvSpPr>
        <p:spPr>
          <a:xfrm xmlns:a="http://schemas.openxmlformats.org/drawingml/2006/main">
            <a:off x="540000" y="864000"/>
            <a:ext cx="1116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019" name="ObjTitle"/>
          <p:cNvSpPr txBox="1"/>
          <p:nvPr/>
        </p:nvSpPr>
        <p:spPr>
          <a:xfrm xmlns:a="http://schemas.openxmlformats.org/drawingml/2006/main">
            <a:off x="540000" y="972000"/>
            <a:ext cx="111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3B82D4"/>
                </a:solidFill>
              </a:rPr>
              <a:t>Objective</a:t>
            </a:r>
          </a:p>
        </p:txBody>
      </p:sp>
      <p:sp>
        <p:nvSpPr>
          <p:cNvPr id="100020" name="ObjBody"/>
          <p:cNvSpPr txBox="1"/>
          <p:nvPr/>
        </p:nvSpPr>
        <p:spPr>
          <a:xfrm xmlns:a="http://schemas.openxmlformats.org/drawingml/2006/main">
            <a:off x="540000" y="1296000"/>
            <a:ext cx="11160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Analyse real-world supermarket transaction data to uncover revenue patterns, identify top-performing categories and cities, understand customer behaviour, and generate actionable business recommendations.</a:t>
            </a:r>
          </a:p>
        </p:txBody>
      </p:sp>
      <p:sp>
        <p:nvSpPr>
          <p:cNvPr id="100021" name="ScopeTitle"/>
          <p:cNvSpPr txBox="1"/>
          <p:nvPr/>
        </p:nvSpPr>
        <p:spPr>
          <a:xfrm xmlns:a="http://schemas.openxmlformats.org/drawingml/2006/main">
            <a:off x="540000" y="2016000"/>
            <a:ext cx="111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3B82D4"/>
                </a:solidFill>
              </a:rPr>
              <a:t>Project Scope</a:t>
            </a:r>
          </a:p>
        </p:txBody>
      </p:sp>
      <p:sp>
        <p:nvSpPr>
          <p:cNvPr id="100022" name="ScopeBody"/>
          <p:cNvSpPr txBox="1"/>
          <p:nvPr/>
        </p:nvSpPr>
        <p:spPr>
          <a:xfrm xmlns:a="http://schemas.openxmlformats.org/drawingml/2006/main">
            <a:off x="540000" y="2340000"/>
            <a:ext cx="11160000" cy="19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Step 1  Collect &amp; load the CSV dataset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Step 2  Check data for missing or incorrect values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Step 3  Calculate Sales = Quantity × Unit Price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Step 4  Group and summarise using totals, counts, and averages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Step 5  Create charts to compare results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Step 6  Use results to make data-driven business decisions</a:t>
            </a:r>
          </a:p>
        </p:txBody>
      </p:sp>
      <p:sp>
        <p:nvSpPr>
          <p:cNvPr id="100023" name="ToolsTitle"/>
          <p:cNvSpPr txBox="1"/>
          <p:nvPr/>
        </p:nvSpPr>
        <p:spPr>
          <a:xfrm xmlns:a="http://schemas.openxmlformats.org/drawingml/2006/main">
            <a:off x="540000" y="4392000"/>
            <a:ext cx="111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3B82D4"/>
                </a:solidFill>
              </a:rPr>
              <a:t>Tools &amp; Technologies</a:t>
            </a:r>
          </a:p>
        </p:txBody>
      </p:sp>
      <p:sp>
        <p:nvSpPr>
          <p:cNvPr id="100024" name="ToolsBody"/>
          <p:cNvSpPr txBox="1"/>
          <p:nvPr/>
        </p:nvSpPr>
        <p:spPr>
          <a:xfrm xmlns:a="http://schemas.openxmlformats.org/drawingml/2006/main">
            <a:off x="540000" y="4716000"/>
            <a:ext cx="1116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Python 3.13  ·  Pandas 2.2.3  ·  NumPy  ·  Matplotlib  ·  Seaborn  ·  Streamlit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5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26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FFFFFF"/>
                </a:solidFill>
              </a:rPr>
              <a:t>IBM SkillsBuild · Data Analytics with AI Internship 2026</a:t>
            </a:r>
          </a:p>
        </p:txBody>
      </p:sp>
      <p:sp>
        <p:nvSpPr>
          <p:cNvPr id="100027" name="SlideNum"/>
          <p:cNvSpPr txBox="1"/>
          <p:nvPr/>
        </p:nvSpPr>
        <p:spPr>
          <a:xfrm xmlns:a="http://schemas.openxmlformats.org/drawingml/2006/main">
            <a:off x="10800000" y="216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B82D4"/>
                </a:solidFill>
              </a:rPr>
              <a:t>02</a:t>
            </a:r>
          </a:p>
        </p:txBody>
      </p:sp>
      <p:sp>
        <p:nvSpPr>
          <p:cNvPr id="100028" name="Title"/>
          <p:cNvSpPr txBox="1"/>
          <p:nvPr/>
        </p:nvSpPr>
        <p:spPr>
          <a:xfrm xmlns:a="http://schemas.openxmlformats.org/drawingml/2006/main">
            <a:off x="540000" y="288000"/>
            <a:ext cx="100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E3A5F"/>
                </a:solidFill>
                <a:latin typeface="Calibri"/>
                <a:ea typeface="Calibri"/>
              </a:rPr>
              <a:t>Dataset Description</a:t>
            </a:r>
          </a:p>
        </p:txBody>
      </p:sp>
      <p:sp>
        <p:nvSpPr>
          <p:cNvPr id="100029" name="Divider"/>
          <p:cNvSpPr txBox="1"/>
          <p:nvPr/>
        </p:nvSpPr>
        <p:spPr>
          <a:xfrm xmlns:a="http://schemas.openxmlformats.org/drawingml/2006/main">
            <a:off x="540000" y="864000"/>
            <a:ext cx="1116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030" name="StatsBox1"/>
          <p:cNvSpPr txBox="1"/>
          <p:nvPr/>
        </p:nvSpPr>
        <p:spPr>
          <a:xfrm xmlns:a="http://schemas.openxmlformats.org/drawingml/2006/main">
            <a:off x="540000" y="972000"/>
            <a:ext cx="25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500</a:t>
            </a:r>
          </a:p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Total Records</a:t>
            </a:r>
          </a:p>
        </p:txBody>
      </p:sp>
      <p:sp>
        <p:nvSpPr>
          <p:cNvPr id="100031" name="StatsBox2"/>
          <p:cNvSpPr txBox="1"/>
          <p:nvPr/>
        </p:nvSpPr>
        <p:spPr>
          <a:xfrm xmlns:a="http://schemas.openxmlformats.org/drawingml/2006/main">
            <a:off x="3312000" y="972000"/>
            <a:ext cx="25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13</a:t>
            </a:r>
          </a:p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Columns / Features</a:t>
            </a:r>
          </a:p>
        </p:txBody>
      </p:sp>
      <p:sp>
        <p:nvSpPr>
          <p:cNvPr id="100032" name="StatsBox3"/>
          <p:cNvSpPr txBox="1"/>
          <p:nvPr/>
        </p:nvSpPr>
        <p:spPr>
          <a:xfrm xmlns:a="http://schemas.openxmlformats.org/drawingml/2006/main">
            <a:off x="6084000" y="972000"/>
            <a:ext cx="25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4</a:t>
            </a:r>
          </a:p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Cities Covered</a:t>
            </a:r>
          </a:p>
        </p:txBody>
      </p:sp>
      <p:sp>
        <p:nvSpPr>
          <p:cNvPr id="100033" name="StatsBox4"/>
          <p:cNvSpPr txBox="1"/>
          <p:nvPr/>
        </p:nvSpPr>
        <p:spPr>
          <a:xfrm xmlns:a="http://schemas.openxmlformats.org/drawingml/2006/main">
            <a:off x="8856000" y="972000"/>
            <a:ext cx="25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Jan – Jul 2026</a:t>
            </a:r>
          </a:p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Date Range</a:t>
            </a:r>
          </a:p>
        </p:txBody>
      </p:sp>
      <p:sp>
        <p:nvSpPr>
          <p:cNvPr id="100034" name="ColsTitle"/>
          <p:cNvSpPr txBox="1"/>
          <p:nvPr/>
        </p:nvSpPr>
        <p:spPr>
          <a:xfrm xmlns:a="http://schemas.openxmlformats.org/drawingml/2006/main">
            <a:off x="540000" y="1980000"/>
            <a:ext cx="111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3B82D4"/>
                </a:solidFill>
              </a:rPr>
              <a:t>Column Reference</a:t>
            </a:r>
          </a:p>
        </p:txBody>
      </p:sp>
      <p:sp>
        <p:nvSpPr>
          <p:cNvPr id="100035" name="ColsLeft"/>
          <p:cNvSpPr txBox="1"/>
          <p:nvPr/>
        </p:nvSpPr>
        <p:spPr>
          <a:xfrm xmlns:a="http://schemas.openxmlformats.org/drawingml/2006/main">
            <a:off x="540000" y="2304000"/>
            <a:ext cx="5400000" cy="25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Invoice ID  —  Unique transaction identifier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Date  —  Transaction date (parsed as datetime)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Branch  —  Store branch code (A / B / C / D)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City  —  City of the branch (4 cities)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Customer Type  —  Member or Normal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Gender  —  Customer gender (Male / Female)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Product  —  Product name (20 unique SKUs)</a:t>
            </a:r>
          </a:p>
        </p:txBody>
      </p:sp>
      <p:sp>
        <p:nvSpPr>
          <p:cNvPr id="100036" name="ColsRight"/>
          <p:cNvSpPr txBox="1"/>
          <p:nvPr/>
        </p:nvSpPr>
        <p:spPr>
          <a:xfrm xmlns:a="http://schemas.openxmlformats.org/drawingml/2006/main">
            <a:off x="6120000" y="2304000"/>
            <a:ext cx="5580000" cy="25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Category  —  Product category (8 categories)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Quantity  —  Units purchased per transaction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Unit Price  —  Price per unit in ₹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Payment  —  Method: UPI / Card / Cash / Net Banking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Rating  —  Customer satisfaction score (0 – 5)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Sales  —  Derived: Quantity × Unit Price (₹)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/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Source File:  supermarket_sales_500_rows.csv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7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38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FFFFFF"/>
                </a:solidFill>
              </a:rPr>
              <a:t>IBM SkillsBuild · Data Analytics with AI Internship 2026</a:t>
            </a:r>
          </a:p>
        </p:txBody>
      </p:sp>
      <p:sp>
        <p:nvSpPr>
          <p:cNvPr id="100039" name="SlideNum"/>
          <p:cNvSpPr txBox="1"/>
          <p:nvPr/>
        </p:nvSpPr>
        <p:spPr>
          <a:xfrm xmlns:a="http://schemas.openxmlformats.org/drawingml/2006/main">
            <a:off x="10800000" y="216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B82D4"/>
                </a:solidFill>
              </a:rPr>
              <a:t>03</a:t>
            </a:r>
          </a:p>
        </p:txBody>
      </p:sp>
      <p:sp>
        <p:nvSpPr>
          <p:cNvPr id="100040" name="Title"/>
          <p:cNvSpPr txBox="1"/>
          <p:nvPr/>
        </p:nvSpPr>
        <p:spPr>
          <a:xfrm xmlns:a="http://schemas.openxmlformats.org/drawingml/2006/main">
            <a:off x="540000" y="288000"/>
            <a:ext cx="100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E3A5F"/>
                </a:solidFill>
                <a:latin typeface="Calibri"/>
                <a:ea typeface="Calibri"/>
              </a:rPr>
              <a:t>Data Quality &amp; Cleaning</a:t>
            </a:r>
          </a:p>
        </p:txBody>
      </p:sp>
      <p:sp>
        <p:nvSpPr>
          <p:cNvPr id="100041" name="Divider"/>
          <p:cNvSpPr txBox="1"/>
          <p:nvPr/>
        </p:nvSpPr>
        <p:spPr>
          <a:xfrm xmlns:a="http://schemas.openxmlformats.org/drawingml/2006/main">
            <a:off x="540000" y="864000"/>
            <a:ext cx="1116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042" name="R1A"/>
          <p:cNvSpPr txBox="1"/>
          <p:nvPr/>
        </p:nvSpPr>
        <p:spPr>
          <a:xfrm xmlns:a="http://schemas.openxmlformats.org/drawingml/2006/main">
            <a:off x="540000" y="972000"/>
            <a:ext cx="25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9F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Missing Values</a:t>
            </a:r>
          </a:p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0</a:t>
            </a:r>
          </a:p>
        </p:txBody>
      </p:sp>
      <p:sp>
        <p:nvSpPr>
          <p:cNvPr id="100043" name="R1B"/>
          <p:cNvSpPr txBox="1"/>
          <p:nvPr/>
        </p:nvSpPr>
        <p:spPr>
          <a:xfrm xmlns:a="http://schemas.openxmlformats.org/drawingml/2006/main">
            <a:off x="3312000" y="972000"/>
            <a:ext cx="25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9F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Duplicate Rows</a:t>
            </a:r>
          </a:p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0</a:t>
            </a:r>
          </a:p>
        </p:txBody>
      </p:sp>
      <p:sp>
        <p:nvSpPr>
          <p:cNvPr id="100044" name="R1C"/>
          <p:cNvSpPr txBox="1"/>
          <p:nvPr/>
        </p:nvSpPr>
        <p:spPr>
          <a:xfrm xmlns:a="http://schemas.openxmlformats.org/drawingml/2006/main">
            <a:off x="6084000" y="972000"/>
            <a:ext cx="25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9F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Negative Quantities</a:t>
            </a:r>
          </a:p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0</a:t>
            </a:r>
          </a:p>
        </p:txBody>
      </p:sp>
      <p:sp>
        <p:nvSpPr>
          <p:cNvPr id="100045" name="R1D"/>
          <p:cNvSpPr txBox="1"/>
          <p:nvPr/>
        </p:nvSpPr>
        <p:spPr>
          <a:xfrm xmlns:a="http://schemas.openxmlformats.org/drawingml/2006/main">
            <a:off x="8856000" y="972000"/>
            <a:ext cx="252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9F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Negative Prices</a:t>
            </a:r>
          </a:p>
          <a:p xmlns:a="http://schemas.openxmlformats.org/drawingml/2006/main">
            <a:r>
              <a:rPr lang="en-US" sz="1300" b="0">
                <a:solidFill>
                  <a:srgbClr val="1F2328"/>
                </a:solidFill>
              </a:rPr>
              <a:t>0</a:t>
            </a:r>
          </a:p>
        </p:txBody>
      </p:sp>
      <p:sp>
        <p:nvSpPr>
          <p:cNvPr id="100046" name="StatusBanner"/>
          <p:cNvSpPr txBox="1"/>
          <p:nvPr/>
        </p:nvSpPr>
        <p:spPr>
          <a:xfrm xmlns:a="http://schemas.openxmlformats.org/drawingml/2006/main">
            <a:off x="540000" y="1872000"/>
            <a:ext cx="1116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166534"/>
                </a:solidFill>
              </a:rPr>
              <a:t>✅  Dataset is fully clean — no issues found across all 500 rows and 13 columns</a:t>
            </a:r>
          </a:p>
        </p:txBody>
      </p:sp>
      <p:sp>
        <p:nvSpPr>
          <p:cNvPr id="100047" name="ChecksTitle"/>
          <p:cNvSpPr txBox="1"/>
          <p:nvPr/>
        </p:nvSpPr>
        <p:spPr>
          <a:xfrm xmlns:a="http://schemas.openxmlformats.org/drawingml/2006/main">
            <a:off x="540000" y="2340000"/>
            <a:ext cx="1116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3B82D4"/>
                </a:solidFill>
              </a:rPr>
              <a:t>Checks Performed</a:t>
            </a:r>
          </a:p>
        </p:txBody>
      </p:sp>
      <p:sp>
        <p:nvSpPr>
          <p:cNvPr id="100048" name="ChecksLeft"/>
          <p:cNvSpPr txBox="1"/>
          <p:nvPr/>
        </p:nvSpPr>
        <p:spPr>
          <a:xfrm xmlns:a="http://schemas.openxmlformats.org/drawingml/2006/main">
            <a:off x="540000" y="2664000"/>
            <a:ext cx="5220000" cy="19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✔  Null / NaN check on all 13 columns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✔  Duplicate row detection (exact matches)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✔  Negative Quantity validation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✔  Negative Unit Price validation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✔  Negative Sales validation</a:t>
            </a:r>
          </a:p>
        </p:txBody>
      </p:sp>
      <p:sp>
        <p:nvSpPr>
          <p:cNvPr id="100049" name="ChecksRight"/>
          <p:cNvSpPr txBox="1"/>
          <p:nvPr/>
        </p:nvSpPr>
        <p:spPr>
          <a:xfrm xmlns:a="http://schemas.openxmlformats.org/drawingml/2006/main">
            <a:off x="6120000" y="2664000"/>
            <a:ext cx="5580000" cy="19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✔  Rating range check (0 – 5 scale)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✔  Date parsing verification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✔  Sales recalculation: Qty × Unit Price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✔  Data type consistency check</a:t>
            </a:r>
          </a:p>
          <a:p xmlns:a="http://schemas.openxmlformats.org/drawingml/2006/main">
            <a:r>
              <a:rPr lang="en-US" sz="1400">
                <a:solidFill>
                  <a:srgbClr val="1F2328"/>
                </a:solidFill>
              </a:rPr>
              <a:t>✔  Cross-column integrity verified</a:t>
            </a:r>
          </a:p>
        </p:txBody>
      </p:sp>
      <p:sp>
        <p:nvSpPr>
          <p:cNvPr id="100050" name="ConclusionNote"/>
          <p:cNvSpPr txBox="1"/>
          <p:nvPr/>
        </p:nvSpPr>
        <p:spPr>
          <a:xfrm xmlns:a="http://schemas.openxmlformats.org/drawingml/2006/main">
            <a:off x="540000" y="4788000"/>
            <a:ext cx="1116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7606A"/>
                </a:solidFill>
              </a:rPr>
              <a:t>Conclusion: No cleaning or imputation was required. All values are complete, consistent, and ready for analysis.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1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52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FFFFFF"/>
                </a:solidFill>
              </a:rPr>
              <a:t>IBM SkillsBuild · Data Analytics with AI Internship 2026</a:t>
            </a:r>
          </a:p>
        </p:txBody>
      </p:sp>
      <p:sp>
        <p:nvSpPr>
          <p:cNvPr id="100053" name="SlideNum"/>
          <p:cNvSpPr txBox="1"/>
          <p:nvPr/>
        </p:nvSpPr>
        <p:spPr>
          <a:xfrm xmlns:a="http://schemas.openxmlformats.org/drawingml/2006/main">
            <a:off x="10800000" y="216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B82D4"/>
                </a:solidFill>
              </a:rPr>
              <a:t>06</a:t>
            </a:r>
          </a:p>
        </p:txBody>
      </p:sp>
      <p:sp>
        <p:nvSpPr>
          <p:cNvPr id="100054" name="Title"/>
          <p:cNvSpPr txBox="1"/>
          <p:nvPr/>
        </p:nvSpPr>
        <p:spPr>
          <a:xfrm xmlns:a="http://schemas.openxmlformats.org/drawingml/2006/main">
            <a:off x="540000" y="288000"/>
            <a:ext cx="100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E3A5F"/>
                </a:solidFill>
                <a:latin typeface="Calibri"/>
                <a:ea typeface="Calibri"/>
              </a:rPr>
              <a:t>Sales by Category</a:t>
            </a:r>
          </a:p>
        </p:txBody>
      </p:sp>
      <p:sp>
        <p:nvSpPr>
          <p:cNvPr id="100055" name="Divider"/>
          <p:cNvSpPr txBox="1"/>
          <p:nvPr/>
        </p:nvSpPr>
        <p:spPr>
          <a:xfrm xmlns:a="http://schemas.openxmlformats.org/drawingml/2006/main">
            <a:off x="540000" y="864000"/>
            <a:ext cx="1116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056" name="TableHdr"/>
          <p:cNvSpPr txBox="1"/>
          <p:nvPr/>
        </p:nvSpPr>
        <p:spPr>
          <a:xfrm xmlns:a="http://schemas.openxmlformats.org/drawingml/2006/main">
            <a:off x="540000" y="972000"/>
            <a:ext cx="11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Category           Revenue (₹)       Units       Transactions    Avg Rating</a:t>
            </a:r>
          </a:p>
        </p:txBody>
      </p:sp>
      <p:sp>
        <p:nvSpPr>
          <p:cNvPr id="100057" name="Row1"/>
          <p:cNvSpPr txBox="1"/>
          <p:nvPr/>
        </p:nvSpPr>
        <p:spPr>
          <a:xfrm xmlns:a="http://schemas.openxmlformats.org/drawingml/2006/main">
            <a:off x="540000" y="1224000"/>
            <a:ext cx="11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Beverages          ₹56,108.24           465              82               3.96</a:t>
            </a:r>
          </a:p>
        </p:txBody>
      </p:sp>
      <p:sp>
        <p:nvSpPr>
          <p:cNvPr id="100058" name="Row2"/>
          <p:cNvSpPr txBox="1"/>
          <p:nvPr/>
        </p:nvSpPr>
        <p:spPr>
          <a:xfrm xmlns:a="http://schemas.openxmlformats.org/drawingml/2006/main">
            <a:off x="540000" y="1476000"/>
            <a:ext cx="11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Personal Care      ₹45,943.96           399              73               3.95</a:t>
            </a:r>
          </a:p>
        </p:txBody>
      </p:sp>
      <p:sp>
        <p:nvSpPr>
          <p:cNvPr id="100059" name="Row3"/>
          <p:cNvSpPr txBox="1"/>
          <p:nvPr/>
        </p:nvSpPr>
        <p:spPr>
          <a:xfrm xmlns:a="http://schemas.openxmlformats.org/drawingml/2006/main">
            <a:off x="540000" y="1728000"/>
            <a:ext cx="11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Dairy                  ₹43,992.00           345              68               4.03</a:t>
            </a:r>
          </a:p>
        </p:txBody>
      </p:sp>
      <p:sp>
        <p:nvSpPr>
          <p:cNvPr id="100060" name="Row4"/>
          <p:cNvSpPr txBox="1"/>
          <p:nvPr/>
        </p:nvSpPr>
        <p:spPr>
          <a:xfrm xmlns:a="http://schemas.openxmlformats.org/drawingml/2006/main">
            <a:off x="540000" y="1980000"/>
            <a:ext cx="11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Grocery              ₹40,470.47           439              82               3.94</a:t>
            </a:r>
          </a:p>
        </p:txBody>
      </p:sp>
      <p:sp>
        <p:nvSpPr>
          <p:cNvPr id="100061" name="Row5"/>
          <p:cNvSpPr txBox="1"/>
          <p:nvPr/>
        </p:nvSpPr>
        <p:spPr>
          <a:xfrm xmlns:a="http://schemas.openxmlformats.org/drawingml/2006/main">
            <a:off x="540000" y="2232000"/>
            <a:ext cx="11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Fruits                  ₹23,263.17           223              44               3.83</a:t>
            </a:r>
          </a:p>
        </p:txBody>
      </p:sp>
      <p:sp>
        <p:nvSpPr>
          <p:cNvPr id="100062" name="Row6"/>
          <p:cNvSpPr txBox="1"/>
          <p:nvPr/>
        </p:nvSpPr>
        <p:spPr>
          <a:xfrm xmlns:a="http://schemas.openxmlformats.org/drawingml/2006/main">
            <a:off x="540000" y="2484000"/>
            <a:ext cx="11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Snacks               ₹16,992.97           443              75               4.11</a:t>
            </a:r>
          </a:p>
        </p:txBody>
      </p:sp>
      <p:sp>
        <p:nvSpPr>
          <p:cNvPr id="100063" name="Row7"/>
          <p:cNvSpPr txBox="1"/>
          <p:nvPr/>
        </p:nvSpPr>
        <p:spPr>
          <a:xfrm xmlns:a="http://schemas.openxmlformats.org/drawingml/2006/main">
            <a:off x="540000" y="2736000"/>
            <a:ext cx="11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Vegetables          ₹11,124.17           290              48               3.99</a:t>
            </a:r>
          </a:p>
        </p:txBody>
      </p:sp>
      <p:sp>
        <p:nvSpPr>
          <p:cNvPr id="100064" name="Row8"/>
          <p:cNvSpPr txBox="1"/>
          <p:nvPr/>
        </p:nvSpPr>
        <p:spPr>
          <a:xfrm xmlns:a="http://schemas.openxmlformats.org/drawingml/2006/main">
            <a:off x="540000" y="2988000"/>
            <a:ext cx="11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Bakery                ₹6,516.10             164              28               4.24</a:t>
            </a:r>
          </a:p>
        </p:txBody>
      </p:sp>
      <p:sp>
        <p:nvSpPr>
          <p:cNvPr id="100065" name="InsightsTitle"/>
          <p:cNvSpPr txBox="1"/>
          <p:nvPr/>
        </p:nvSpPr>
        <p:spPr>
          <a:xfrm xmlns:a="http://schemas.openxmlformats.org/drawingml/2006/main">
            <a:off x="540000" y="3348000"/>
            <a:ext cx="111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3B82D4"/>
                </a:solidFill>
              </a:rPr>
              <a:t>Key Insights</a:t>
            </a:r>
          </a:p>
        </p:txBody>
      </p:sp>
      <p:sp>
        <p:nvSpPr>
          <p:cNvPr id="100066" name="Ins1"/>
          <p:cNvSpPr txBox="1"/>
          <p:nvPr/>
        </p:nvSpPr>
        <p:spPr>
          <a:xfrm xmlns:a="http://schemas.openxmlformats.org/drawingml/2006/main">
            <a:off x="540000" y="3636000"/>
            <a:ext cx="1116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🏆  Beverages leads with ₹56,108 (23% of total revenue) — highest-volume and highest-value category</a:t>
            </a:r>
          </a:p>
        </p:txBody>
      </p:sp>
      <p:sp>
        <p:nvSpPr>
          <p:cNvPr id="100067" name="Ins2"/>
          <p:cNvSpPr txBox="1"/>
          <p:nvPr/>
        </p:nvSpPr>
        <p:spPr>
          <a:xfrm xmlns:a="http://schemas.openxmlformats.org/drawingml/2006/main">
            <a:off x="540000" y="3960000"/>
            <a:ext cx="1116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⭐  Bakery earns the highest avg rating (4.24) despite lowest revenue — strong quality signal</a:t>
            </a:r>
          </a:p>
        </p:txBody>
      </p:sp>
      <p:sp>
        <p:nvSpPr>
          <p:cNvPr id="100068" name="Ins3"/>
          <p:cNvSpPr txBox="1"/>
          <p:nvPr/>
        </p:nvSpPr>
        <p:spPr>
          <a:xfrm xmlns:a="http://schemas.openxmlformats.org/drawingml/2006/main">
            <a:off x="540000" y="4284000"/>
            <a:ext cx="1116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📦  Snacks has 443 units sold but only ₹16,992 revenue — low unit price; volume driver, not value driver</a:t>
            </a:r>
          </a:p>
        </p:txBody>
      </p:sp>
      <p:sp>
        <p:nvSpPr>
          <p:cNvPr id="100069" name="Ins4"/>
          <p:cNvSpPr txBox="1"/>
          <p:nvPr/>
        </p:nvSpPr>
        <p:spPr>
          <a:xfrm xmlns:a="http://schemas.openxmlformats.org/drawingml/2006/main">
            <a:off x="540000" y="4608000"/>
            <a:ext cx="1116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📈  Top 4 categories (Beverages, Personal Care, Dairy, Grocery) account for ₹1,86,514 — 76% of total revenue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0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71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FFFFFF"/>
                </a:solidFill>
              </a:rPr>
              <a:t>IBM SkillsBuild · Data Analytics with AI Internship 2026</a:t>
            </a:r>
          </a:p>
        </p:txBody>
      </p:sp>
      <p:sp>
        <p:nvSpPr>
          <p:cNvPr id="100072" name="SlideNum"/>
          <p:cNvSpPr txBox="1"/>
          <p:nvPr/>
        </p:nvSpPr>
        <p:spPr>
          <a:xfrm xmlns:a="http://schemas.openxmlformats.org/drawingml/2006/main">
            <a:off x="10800000" y="216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B82D4"/>
                </a:solidFill>
              </a:rPr>
              <a:t>07</a:t>
            </a:r>
          </a:p>
        </p:txBody>
      </p:sp>
      <p:sp>
        <p:nvSpPr>
          <p:cNvPr id="100073" name="Title"/>
          <p:cNvSpPr txBox="1"/>
          <p:nvPr/>
        </p:nvSpPr>
        <p:spPr>
          <a:xfrm xmlns:a="http://schemas.openxmlformats.org/drawingml/2006/main">
            <a:off x="540000" y="288000"/>
            <a:ext cx="100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E3A5F"/>
                </a:solidFill>
                <a:latin typeface="Calibri"/>
                <a:ea typeface="Calibri"/>
              </a:rPr>
              <a:t>City &amp; Branch Performance</a:t>
            </a:r>
          </a:p>
        </p:txBody>
      </p:sp>
      <p:sp>
        <p:nvSpPr>
          <p:cNvPr id="100074" name="Divider"/>
          <p:cNvSpPr txBox="1"/>
          <p:nvPr/>
        </p:nvSpPr>
        <p:spPr>
          <a:xfrm xmlns:a="http://schemas.openxmlformats.org/drawingml/2006/main">
            <a:off x="540000" y="864000"/>
            <a:ext cx="1116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075" name="CityTableHdr"/>
          <p:cNvSpPr txBox="1"/>
          <p:nvPr/>
        </p:nvSpPr>
        <p:spPr>
          <a:xfrm xmlns:a="http://schemas.openxmlformats.org/drawingml/2006/main">
            <a:off x="540000" y="972000"/>
            <a:ext cx="11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City              Branch    Revenue (₹)        Transactions      Avg Rating</a:t>
            </a:r>
          </a:p>
        </p:txBody>
      </p:sp>
      <p:sp>
        <p:nvSpPr>
          <p:cNvPr id="100076" name="CRow1"/>
          <p:cNvSpPr txBox="1"/>
          <p:nvPr/>
        </p:nvSpPr>
        <p:spPr>
          <a:xfrm xmlns:a="http://schemas.openxmlformats.org/drawingml/2006/main">
            <a:off x="540000" y="1224000"/>
            <a:ext cx="11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Mumbai          C             ₹72,469.45              143                4.05</a:t>
            </a:r>
          </a:p>
        </p:txBody>
      </p:sp>
      <p:sp>
        <p:nvSpPr>
          <p:cNvPr id="100077" name="CRow2"/>
          <p:cNvSpPr txBox="1"/>
          <p:nvPr/>
        </p:nvSpPr>
        <p:spPr>
          <a:xfrm xmlns:a="http://schemas.openxmlformats.org/drawingml/2006/main">
            <a:off x="540000" y="1476000"/>
            <a:ext cx="11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Delhi              B             ₹64,116.26              133                3.98</a:t>
            </a:r>
          </a:p>
        </p:txBody>
      </p:sp>
      <p:sp>
        <p:nvSpPr>
          <p:cNvPr id="100078" name="CRow3"/>
          <p:cNvSpPr txBox="1"/>
          <p:nvPr/>
        </p:nvSpPr>
        <p:spPr>
          <a:xfrm xmlns:a="http://schemas.openxmlformats.org/drawingml/2006/main">
            <a:off x="540000" y="1728000"/>
            <a:ext cx="11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Bengaluru       D             ₹55,468.29              119                4.09</a:t>
            </a:r>
          </a:p>
        </p:txBody>
      </p:sp>
      <p:sp>
        <p:nvSpPr>
          <p:cNvPr id="100079" name="CRow4"/>
          <p:cNvSpPr txBox="1"/>
          <p:nvPr/>
        </p:nvSpPr>
        <p:spPr>
          <a:xfrm xmlns:a="http://schemas.openxmlformats.org/drawingml/2006/main">
            <a:off x="540000" y="1980000"/>
            <a:ext cx="11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Jaipur            A             ₹52,357.08              105                3.84</a:t>
            </a:r>
          </a:p>
        </p:txBody>
      </p:sp>
      <p:sp>
        <p:nvSpPr>
          <p:cNvPr id="100080" name="BarChartTitle"/>
          <p:cNvSpPr txBox="1"/>
          <p:nvPr/>
        </p:nvSpPr>
        <p:spPr>
          <a:xfrm xmlns:a="http://schemas.openxmlformats.org/drawingml/2006/main">
            <a:off x="540000" y="2340000"/>
            <a:ext cx="111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3B82D4"/>
                </a:solidFill>
              </a:rPr>
              <a:t>Revenue Distribution by City (₹)</a:t>
            </a:r>
          </a:p>
        </p:txBody>
      </p:sp>
      <p:sp>
        <p:nvSpPr>
          <p:cNvPr id="100081" name="BarMumbai"/>
          <p:cNvSpPr txBox="1"/>
          <p:nvPr/>
        </p:nvSpPr>
        <p:spPr>
          <a:xfrm xmlns:a="http://schemas.openxmlformats.org/drawingml/2006/main">
            <a:off x="540000" y="2664000"/>
            <a:ext cx="702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Mumbai  ₹72,469</a:t>
            </a:r>
          </a:p>
        </p:txBody>
      </p:sp>
      <p:sp>
        <p:nvSpPr>
          <p:cNvPr id="100082" name="BarDelhi"/>
          <p:cNvSpPr txBox="1"/>
          <p:nvPr/>
        </p:nvSpPr>
        <p:spPr>
          <a:xfrm xmlns:a="http://schemas.openxmlformats.org/drawingml/2006/main">
            <a:off x="540000" y="3024000"/>
            <a:ext cx="6228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Delhi      ₹64,116</a:t>
            </a:r>
          </a:p>
        </p:txBody>
      </p:sp>
      <p:sp>
        <p:nvSpPr>
          <p:cNvPr id="100083" name="BarBengaluru"/>
          <p:cNvSpPr txBox="1"/>
          <p:nvPr/>
        </p:nvSpPr>
        <p:spPr>
          <a:xfrm xmlns:a="http://schemas.openxmlformats.org/drawingml/2006/main">
            <a:off x="540000" y="3384000"/>
            <a:ext cx="5364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Bengaluru  ₹55,468</a:t>
            </a:r>
          </a:p>
        </p:txBody>
      </p:sp>
      <p:sp>
        <p:nvSpPr>
          <p:cNvPr id="100084" name="BarJaipur"/>
          <p:cNvSpPr txBox="1"/>
          <p:nvPr/>
        </p:nvSpPr>
        <p:spPr>
          <a:xfrm xmlns:a="http://schemas.openxmlformats.org/drawingml/2006/main">
            <a:off x="540000" y="3744000"/>
            <a:ext cx="5076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Jaipur     ₹52,357</a:t>
            </a:r>
          </a:p>
        </p:txBody>
      </p:sp>
      <p:sp>
        <p:nvSpPr>
          <p:cNvPr id="100085" name="InsightsTitle"/>
          <p:cNvSpPr txBox="1"/>
          <p:nvPr/>
        </p:nvSpPr>
        <p:spPr>
          <a:xfrm xmlns:a="http://schemas.openxmlformats.org/drawingml/2006/main">
            <a:off x="540000" y="4176000"/>
            <a:ext cx="111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3B82D4"/>
                </a:solidFill>
              </a:rPr>
              <a:t>Key Insights</a:t>
            </a:r>
          </a:p>
        </p:txBody>
      </p:sp>
      <p:sp>
        <p:nvSpPr>
          <p:cNvPr id="100086" name="CIns1"/>
          <p:cNvSpPr txBox="1"/>
          <p:nvPr/>
        </p:nvSpPr>
        <p:spPr>
          <a:xfrm xmlns:a="http://schemas.openxmlformats.org/drawingml/2006/main">
            <a:off x="540000" y="4464000"/>
            <a:ext cx="1116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🏙️  Mumbai (Branch C) leads with ₹72,469 revenue across 143 transactions</a:t>
            </a:r>
          </a:p>
        </p:txBody>
      </p:sp>
      <p:sp>
        <p:nvSpPr>
          <p:cNvPr id="100087" name="CIns2"/>
          <p:cNvSpPr txBox="1"/>
          <p:nvPr/>
        </p:nvSpPr>
        <p:spPr>
          <a:xfrm xmlns:a="http://schemas.openxmlformats.org/drawingml/2006/main">
            <a:off x="540000" y="4752000"/>
            <a:ext cx="1116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⭐  Bengaluru (Branch D) has the highest avg rating at 4.09 — best customer satisfaction</a:t>
            </a:r>
          </a:p>
        </p:txBody>
      </p:sp>
      <p:sp>
        <p:nvSpPr>
          <p:cNvPr id="100088" name="CIns3"/>
          <p:cNvSpPr txBox="1"/>
          <p:nvPr/>
        </p:nvSpPr>
        <p:spPr>
          <a:xfrm xmlns:a="http://schemas.openxmlformats.org/drawingml/2006/main">
            <a:off x="540000" y="5040000"/>
            <a:ext cx="1116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📊  All 4 cities are within 28% of each other in revenue — healthy geographic distribution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9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90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FFFFFF"/>
                </a:solidFill>
              </a:rPr>
              <a:t>IBM SkillsBuild · Data Analytics with AI Internship 2026</a:t>
            </a:r>
          </a:p>
        </p:txBody>
      </p:sp>
      <p:sp>
        <p:nvSpPr>
          <p:cNvPr id="100091" name="SlideNum"/>
          <p:cNvSpPr txBox="1"/>
          <p:nvPr/>
        </p:nvSpPr>
        <p:spPr>
          <a:xfrm xmlns:a="http://schemas.openxmlformats.org/drawingml/2006/main">
            <a:off x="10800000" y="216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B82D4"/>
                </a:solidFill>
              </a:rPr>
              <a:t>08</a:t>
            </a:r>
          </a:p>
        </p:txBody>
      </p:sp>
      <p:sp>
        <p:nvSpPr>
          <p:cNvPr id="100092" name="Title"/>
          <p:cNvSpPr txBox="1"/>
          <p:nvPr/>
        </p:nvSpPr>
        <p:spPr>
          <a:xfrm xmlns:a="http://schemas.openxmlformats.org/drawingml/2006/main">
            <a:off x="540000" y="288000"/>
            <a:ext cx="100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E3A5F"/>
                </a:solidFill>
                <a:latin typeface="Calibri"/>
                <a:ea typeface="Calibri"/>
              </a:rPr>
              <a:t>Sales Trend Analysis</a:t>
            </a:r>
          </a:p>
        </p:txBody>
      </p:sp>
      <p:sp>
        <p:nvSpPr>
          <p:cNvPr id="100093" name="Divider"/>
          <p:cNvSpPr txBox="1"/>
          <p:nvPr/>
        </p:nvSpPr>
        <p:spPr>
          <a:xfrm xmlns:a="http://schemas.openxmlformats.org/drawingml/2006/main">
            <a:off x="540000" y="864000"/>
            <a:ext cx="1116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094" name="MonthTitle"/>
          <p:cNvSpPr txBox="1"/>
          <p:nvPr/>
        </p:nvSpPr>
        <p:spPr>
          <a:xfrm xmlns:a="http://schemas.openxmlformats.org/drawingml/2006/main">
            <a:off x="540000" y="972000"/>
            <a:ext cx="111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3B82D4"/>
                </a:solidFill>
              </a:rPr>
              <a:t>Monthly Revenue Summary (Jan – Jul 2026)</a:t>
            </a:r>
          </a:p>
        </p:txBody>
      </p:sp>
      <p:sp>
        <p:nvSpPr>
          <p:cNvPr id="100095" name="MonHdr"/>
          <p:cNvSpPr txBox="1"/>
          <p:nvPr/>
        </p:nvSpPr>
        <p:spPr>
          <a:xfrm xmlns:a="http://schemas.openxmlformats.org/drawingml/2006/main">
            <a:off x="540000" y="1260000"/>
            <a:ext cx="11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Month             Revenue (₹)         Transactions      % of Total</a:t>
            </a:r>
          </a:p>
        </p:txBody>
      </p:sp>
      <p:sp>
        <p:nvSpPr>
          <p:cNvPr id="100096" name="Mon1"/>
          <p:cNvSpPr txBox="1"/>
          <p:nvPr/>
        </p:nvSpPr>
        <p:spPr>
          <a:xfrm xmlns:a="http://schemas.openxmlformats.org/drawingml/2006/main">
            <a:off x="540000" y="1512000"/>
            <a:ext cx="1116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January 2026     ₹43,415.53               88                  17.8%</a:t>
            </a:r>
          </a:p>
        </p:txBody>
      </p:sp>
      <p:sp>
        <p:nvSpPr>
          <p:cNvPr id="100097" name="Mon2"/>
          <p:cNvSpPr txBox="1"/>
          <p:nvPr/>
        </p:nvSpPr>
        <p:spPr>
          <a:xfrm xmlns:a="http://schemas.openxmlformats.org/drawingml/2006/main">
            <a:off x="540000" y="1746000"/>
            <a:ext cx="1116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February 2026   ₹30,068.15               65                  12.3%</a:t>
            </a:r>
          </a:p>
        </p:txBody>
      </p:sp>
      <p:sp>
        <p:nvSpPr>
          <p:cNvPr id="100098" name="Mon3"/>
          <p:cNvSpPr txBox="1"/>
          <p:nvPr/>
        </p:nvSpPr>
        <p:spPr>
          <a:xfrm xmlns:a="http://schemas.openxmlformats.org/drawingml/2006/main">
            <a:off x="540000" y="1980000"/>
            <a:ext cx="1116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March 2026        ₹37,306.42               83                  15.3%</a:t>
            </a:r>
          </a:p>
        </p:txBody>
      </p:sp>
      <p:sp>
        <p:nvSpPr>
          <p:cNvPr id="100099" name="Mon4"/>
          <p:cNvSpPr txBox="1"/>
          <p:nvPr/>
        </p:nvSpPr>
        <p:spPr>
          <a:xfrm xmlns:a="http://schemas.openxmlformats.org/drawingml/2006/main">
            <a:off x="540000" y="2214000"/>
            <a:ext cx="1116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1E3A5F"/>
                </a:solidFill>
              </a:rPr>
              <a:t>April 2026           ₹52,569.77               90                  21.5%  ← Peak Month</a:t>
            </a:r>
          </a:p>
        </p:txBody>
      </p:sp>
      <p:sp>
        <p:nvSpPr>
          <p:cNvPr id="100100" name="Mon5"/>
          <p:cNvSpPr txBox="1"/>
          <p:nvPr/>
        </p:nvSpPr>
        <p:spPr>
          <a:xfrm xmlns:a="http://schemas.openxmlformats.org/drawingml/2006/main">
            <a:off x="540000" y="2448000"/>
            <a:ext cx="1116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May 2026             ₹42,542.31               85                  17.4%</a:t>
            </a:r>
          </a:p>
        </p:txBody>
      </p:sp>
      <p:sp>
        <p:nvSpPr>
          <p:cNvPr id="100101" name="Mon6"/>
          <p:cNvSpPr txBox="1"/>
          <p:nvPr/>
        </p:nvSpPr>
        <p:spPr>
          <a:xfrm xmlns:a="http://schemas.openxmlformats.org/drawingml/2006/main">
            <a:off x="540000" y="2682000"/>
            <a:ext cx="1116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June 2026             ₹35,041.46               82                  14.3%</a:t>
            </a:r>
          </a:p>
        </p:txBody>
      </p:sp>
      <p:sp>
        <p:nvSpPr>
          <p:cNvPr id="100102" name="Mon7"/>
          <p:cNvSpPr txBox="1"/>
          <p:nvPr/>
        </p:nvSpPr>
        <p:spPr>
          <a:xfrm xmlns:a="http://schemas.openxmlformats.org/drawingml/2006/main">
            <a:off x="540000" y="2916000"/>
            <a:ext cx="1116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57606A"/>
                </a:solidFill>
              </a:rPr>
              <a:t>July 2026              ₹3,467.44                  7                    1.4%  (partial month)</a:t>
            </a:r>
          </a:p>
        </p:txBody>
      </p:sp>
      <p:sp>
        <p:nvSpPr>
          <p:cNvPr id="100103" name="DayTitle"/>
          <p:cNvSpPr txBox="1"/>
          <p:nvPr/>
        </p:nvSpPr>
        <p:spPr>
          <a:xfrm xmlns:a="http://schemas.openxmlformats.org/drawingml/2006/main">
            <a:off x="540000" y="3240000"/>
            <a:ext cx="54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3B82D4"/>
                </a:solidFill>
              </a:rPr>
              <a:t>Revenue by Day of Week</a:t>
            </a:r>
          </a:p>
        </p:txBody>
      </p:sp>
      <p:sp>
        <p:nvSpPr>
          <p:cNvPr id="100104" name="DayMon"/>
          <p:cNvSpPr txBox="1"/>
          <p:nvPr/>
        </p:nvSpPr>
        <p:spPr>
          <a:xfrm xmlns:a="http://schemas.openxmlformats.org/drawingml/2006/main">
            <a:off x="540000" y="3528000"/>
            <a:ext cx="504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Monday  ₹42,602  ← Peak Day</a:t>
            </a:r>
          </a:p>
        </p:txBody>
      </p:sp>
      <p:sp>
        <p:nvSpPr>
          <p:cNvPr id="100105" name="DaySun"/>
          <p:cNvSpPr txBox="1"/>
          <p:nvPr/>
        </p:nvSpPr>
        <p:spPr>
          <a:xfrm xmlns:a="http://schemas.openxmlformats.org/drawingml/2006/main">
            <a:off x="540000" y="3798000"/>
            <a:ext cx="4392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Sunday    ₹36,720</a:t>
            </a:r>
          </a:p>
        </p:txBody>
      </p:sp>
      <p:sp>
        <p:nvSpPr>
          <p:cNvPr id="100106" name="DayTue"/>
          <p:cNvSpPr txBox="1"/>
          <p:nvPr/>
        </p:nvSpPr>
        <p:spPr>
          <a:xfrm xmlns:a="http://schemas.openxmlformats.org/drawingml/2006/main">
            <a:off x="540000" y="4068000"/>
            <a:ext cx="4356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D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FFFFFF"/>
                </a:solidFill>
              </a:rPr>
              <a:t>Tuesday  ₹36,293</a:t>
            </a:r>
          </a:p>
        </p:txBody>
      </p:sp>
      <p:sp>
        <p:nvSpPr>
          <p:cNvPr id="100107" name="DayMar"/>
          <p:cNvSpPr txBox="1"/>
          <p:nvPr/>
        </p:nvSpPr>
        <p:spPr>
          <a:xfrm xmlns:a="http://schemas.openxmlformats.org/drawingml/2006/main">
            <a:off x="6120000" y="3240000"/>
            <a:ext cx="558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57606A"/>
                </a:solidFill>
              </a:rPr>
              <a:t>March  ₹37,306</a:t>
            </a:r>
          </a:p>
        </p:txBody>
      </p:sp>
      <p:sp>
        <p:nvSpPr>
          <p:cNvPr id="100108" name="TrendInsights"/>
          <p:cNvSpPr txBox="1"/>
          <p:nvPr/>
        </p:nvSpPr>
        <p:spPr>
          <a:xfrm xmlns:a="http://schemas.openxmlformats.org/drawingml/2006/main">
            <a:off x="540000" y="4428000"/>
            <a:ext cx="1116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April is the peak month (₹52,570 | 90 transactions)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Monday is the busiest day (₹42,602 revenue)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February is the slowest month — opportunity for targeted promotions</a:t>
            </a:r>
          </a:p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July data is partial (only 1 day) — excluded from seasonal conclusions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09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110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FFFFFF"/>
                </a:solidFill>
              </a:rPr>
              <a:t>IBM SkillsBuild · Data Analytics with AI Internship 2026</a:t>
            </a:r>
          </a:p>
        </p:txBody>
      </p:sp>
      <p:sp>
        <p:nvSpPr>
          <p:cNvPr id="100111" name="SlideNum"/>
          <p:cNvSpPr txBox="1"/>
          <p:nvPr/>
        </p:nvSpPr>
        <p:spPr>
          <a:xfrm xmlns:a="http://schemas.openxmlformats.org/drawingml/2006/main">
            <a:off x="10800000" y="216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B82D4"/>
                </a:solidFill>
              </a:rPr>
              <a:t>09</a:t>
            </a:r>
          </a:p>
        </p:txBody>
      </p:sp>
      <p:sp>
        <p:nvSpPr>
          <p:cNvPr id="100112" name="Title"/>
          <p:cNvSpPr txBox="1"/>
          <p:nvPr/>
        </p:nvSpPr>
        <p:spPr>
          <a:xfrm xmlns:a="http://schemas.openxmlformats.org/drawingml/2006/main">
            <a:off x="540000" y="288000"/>
            <a:ext cx="100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E3A5F"/>
                </a:solidFill>
                <a:latin typeface="Calibri"/>
                <a:ea typeface="Calibri"/>
              </a:rPr>
              <a:t>Customer &amp; Payment Insights</a:t>
            </a:r>
          </a:p>
        </p:txBody>
      </p:sp>
      <p:sp>
        <p:nvSpPr>
          <p:cNvPr id="100113" name="Divider"/>
          <p:cNvSpPr txBox="1"/>
          <p:nvPr/>
        </p:nvSpPr>
        <p:spPr>
          <a:xfrm xmlns:a="http://schemas.openxmlformats.org/drawingml/2006/main">
            <a:off x="540000" y="864000"/>
            <a:ext cx="1116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114" name="CustTitle"/>
          <p:cNvSpPr txBox="1"/>
          <p:nvPr/>
        </p:nvSpPr>
        <p:spPr>
          <a:xfrm xmlns:a="http://schemas.openxmlformats.org/drawingml/2006/main">
            <a:off x="540000" y="972000"/>
            <a:ext cx="540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3B82D4"/>
                </a:solidFill>
              </a:rPr>
              <a:t>Customer Type Analysis</a:t>
            </a:r>
          </a:p>
        </p:txBody>
      </p:sp>
      <p:sp>
        <p:nvSpPr>
          <p:cNvPr id="100115" name="CustHdr"/>
          <p:cNvSpPr txBox="1"/>
          <p:nvPr/>
        </p:nvSpPr>
        <p:spPr>
          <a:xfrm xmlns:a="http://schemas.openxmlformats.org/drawingml/2006/main">
            <a:off x="540000" y="1260000"/>
            <a:ext cx="522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Type          Revenue           Txns     Avg Basket</a:t>
            </a:r>
          </a:p>
        </p:txBody>
      </p:sp>
      <p:sp>
        <p:nvSpPr>
          <p:cNvPr id="100116" name="CustR1"/>
          <p:cNvSpPr txBox="1"/>
          <p:nvPr/>
        </p:nvSpPr>
        <p:spPr>
          <a:xfrm xmlns:a="http://schemas.openxmlformats.org/drawingml/2006/main">
            <a:off x="540000" y="1494000"/>
            <a:ext cx="522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F2328"/>
                </a:solidFill>
              </a:rPr>
              <a:t>Member     ₹1,43,009.30     296       ₹483.14</a:t>
            </a:r>
          </a:p>
        </p:txBody>
      </p:sp>
      <p:sp>
        <p:nvSpPr>
          <p:cNvPr id="100117" name="CustR2"/>
          <p:cNvSpPr txBox="1"/>
          <p:nvPr/>
        </p:nvSpPr>
        <p:spPr>
          <a:xfrm xmlns:a="http://schemas.openxmlformats.org/drawingml/2006/main">
            <a:off x="540000" y="1728000"/>
            <a:ext cx="522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F2328"/>
                </a:solidFill>
              </a:rPr>
              <a:t>Normal      ₹1,01,401.78     204       ₹497.07</a:t>
            </a:r>
          </a:p>
        </p:txBody>
      </p:sp>
      <p:sp>
        <p:nvSpPr>
          <p:cNvPr id="100118" name="GenderTitle"/>
          <p:cNvSpPr txBox="1"/>
          <p:nvPr/>
        </p:nvSpPr>
        <p:spPr>
          <a:xfrm xmlns:a="http://schemas.openxmlformats.org/drawingml/2006/main">
            <a:off x="6120000" y="972000"/>
            <a:ext cx="558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3B82D4"/>
                </a:solidFill>
              </a:rPr>
              <a:t>Gender Analysis</a:t>
            </a:r>
          </a:p>
        </p:txBody>
      </p:sp>
      <p:sp>
        <p:nvSpPr>
          <p:cNvPr id="100119" name="GenderHdr"/>
          <p:cNvSpPr txBox="1"/>
          <p:nvPr/>
        </p:nvSpPr>
        <p:spPr>
          <a:xfrm xmlns:a="http://schemas.openxmlformats.org/drawingml/2006/main">
            <a:off x="6120000" y="1260000"/>
            <a:ext cx="558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FFFF"/>
                </a:solidFill>
              </a:rPr>
              <a:t>Gender     Revenue              Txns</a:t>
            </a:r>
          </a:p>
        </p:txBody>
      </p:sp>
      <p:sp>
        <p:nvSpPr>
          <p:cNvPr id="100120" name="GenR1"/>
          <p:cNvSpPr txBox="1"/>
          <p:nvPr/>
        </p:nvSpPr>
        <p:spPr>
          <a:xfrm xmlns:a="http://schemas.openxmlformats.org/drawingml/2006/main">
            <a:off x="6120000" y="1494000"/>
            <a:ext cx="558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F2328"/>
                </a:solidFill>
              </a:rPr>
              <a:t>Female      ₹1,23,954.12        255</a:t>
            </a:r>
          </a:p>
        </p:txBody>
      </p:sp>
      <p:sp>
        <p:nvSpPr>
          <p:cNvPr id="100121" name="GenR2"/>
          <p:cNvSpPr txBox="1"/>
          <p:nvPr/>
        </p:nvSpPr>
        <p:spPr>
          <a:xfrm xmlns:a="http://schemas.openxmlformats.org/drawingml/2006/main">
            <a:off x="6120000" y="1728000"/>
            <a:ext cx="558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F2328"/>
                </a:solidFill>
              </a:rPr>
              <a:t>Male         ₹1,20,456.96        245</a:t>
            </a:r>
          </a:p>
        </p:txBody>
      </p:sp>
      <p:sp>
        <p:nvSpPr>
          <p:cNvPr id="100122" name="PayTitle"/>
          <p:cNvSpPr txBox="1"/>
          <p:nvPr/>
        </p:nvSpPr>
        <p:spPr>
          <a:xfrm xmlns:a="http://schemas.openxmlformats.org/drawingml/2006/main">
            <a:off x="540000" y="2052000"/>
            <a:ext cx="111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3B82D4"/>
                </a:solidFill>
              </a:rPr>
              <a:t>Payment Method Analysis</a:t>
            </a:r>
          </a:p>
        </p:txBody>
      </p:sp>
      <p:sp>
        <p:nvSpPr>
          <p:cNvPr id="100123" name="PayHdr"/>
          <p:cNvSpPr txBox="1"/>
          <p:nvPr/>
        </p:nvSpPr>
        <p:spPr>
          <a:xfrm xmlns:a="http://schemas.openxmlformats.org/drawingml/2006/main">
            <a:off x="540000" y="2322000"/>
            <a:ext cx="11160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FFFFF"/>
                </a:solidFill>
              </a:rPr>
              <a:t>Payment Method      Revenue (₹)         Transactions      Share</a:t>
            </a:r>
          </a:p>
        </p:txBody>
      </p:sp>
      <p:sp>
        <p:nvSpPr>
          <p:cNvPr id="100124" name="PayR1"/>
          <p:cNvSpPr txBox="1"/>
          <p:nvPr/>
        </p:nvSpPr>
        <p:spPr>
          <a:xfrm xmlns:a="http://schemas.openxmlformats.org/drawingml/2006/main">
            <a:off x="540000" y="2574000"/>
            <a:ext cx="1116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UPI                        ₹67,910.33              127                27.8%</a:t>
            </a:r>
          </a:p>
        </p:txBody>
      </p:sp>
      <p:sp>
        <p:nvSpPr>
          <p:cNvPr id="100125" name="PayR2"/>
          <p:cNvSpPr txBox="1"/>
          <p:nvPr/>
        </p:nvSpPr>
        <p:spPr>
          <a:xfrm xmlns:a="http://schemas.openxmlformats.org/drawingml/2006/main">
            <a:off x="540000" y="2808000"/>
            <a:ext cx="1116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Net Banking             ₹65,194.93              126                26.7%</a:t>
            </a:r>
          </a:p>
        </p:txBody>
      </p:sp>
      <p:sp>
        <p:nvSpPr>
          <p:cNvPr id="100126" name="PayR3"/>
          <p:cNvSpPr txBox="1"/>
          <p:nvPr/>
        </p:nvSpPr>
        <p:spPr>
          <a:xfrm xmlns:a="http://schemas.openxmlformats.org/drawingml/2006/main">
            <a:off x="540000" y="3042000"/>
            <a:ext cx="1116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Card                       ₹57,265.64              125                23.4%</a:t>
            </a:r>
          </a:p>
        </p:txBody>
      </p:sp>
      <p:sp>
        <p:nvSpPr>
          <p:cNvPr id="100127" name="PayR4"/>
          <p:cNvSpPr txBox="1"/>
          <p:nvPr/>
        </p:nvSpPr>
        <p:spPr>
          <a:xfrm xmlns:a="http://schemas.openxmlformats.org/drawingml/2006/main">
            <a:off x="540000" y="3276000"/>
            <a:ext cx="11160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Cash                       ₹54,040.18              122                22.1%</a:t>
            </a:r>
          </a:p>
        </p:txBody>
      </p:sp>
      <p:sp>
        <p:nvSpPr>
          <p:cNvPr id="100128" name="InsTitle"/>
          <p:cNvSpPr txBox="1"/>
          <p:nvPr/>
        </p:nvSpPr>
        <p:spPr>
          <a:xfrm xmlns:a="http://schemas.openxmlformats.org/drawingml/2006/main">
            <a:off x="540000" y="3600000"/>
            <a:ext cx="11160000" cy="25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3B82D4"/>
                </a:solidFill>
              </a:rPr>
              <a:t>Key Insights</a:t>
            </a:r>
          </a:p>
        </p:txBody>
      </p:sp>
      <p:sp>
        <p:nvSpPr>
          <p:cNvPr id="100129" name="Ins1"/>
          <p:cNvSpPr txBox="1"/>
          <p:nvPr/>
        </p:nvSpPr>
        <p:spPr>
          <a:xfrm xmlns:a="http://schemas.openxmlformats.org/drawingml/2006/main">
            <a:off x="540000" y="3888000"/>
            <a:ext cx="1116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🎟️  Members generate 41% more revenue than Normal customers (296 vs 204 transactions)</a:t>
            </a:r>
          </a:p>
        </p:txBody>
      </p:sp>
      <p:sp>
        <p:nvSpPr>
          <p:cNvPr id="100130" name="Ins2"/>
          <p:cNvSpPr txBox="1"/>
          <p:nvPr/>
        </p:nvSpPr>
        <p:spPr>
          <a:xfrm xmlns:a="http://schemas.openxmlformats.org/drawingml/2006/main">
            <a:off x="540000" y="4194000"/>
            <a:ext cx="1116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⚖️  Gender split is nearly even (Female 50.7% | Male 49.3%) — no significant bias</a:t>
            </a:r>
          </a:p>
        </p:txBody>
      </p:sp>
      <p:sp>
        <p:nvSpPr>
          <p:cNvPr id="100131" name="Ins3"/>
          <p:cNvSpPr txBox="1"/>
          <p:nvPr/>
        </p:nvSpPr>
        <p:spPr>
          <a:xfrm xmlns:a="http://schemas.openxmlformats.org/drawingml/2006/main">
            <a:off x="540000" y="4500000"/>
            <a:ext cx="1116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💳  Digital payments (UPI + Net Banking + Card) dominate at 77.9% of all transactions</a:t>
            </a:r>
          </a:p>
        </p:txBody>
      </p:sp>
      <p:sp>
        <p:nvSpPr>
          <p:cNvPr id="100132" name="Ins4"/>
          <p:cNvSpPr txBox="1"/>
          <p:nvPr/>
        </p:nvSpPr>
        <p:spPr>
          <a:xfrm xmlns:a="http://schemas.openxmlformats.org/drawingml/2006/main">
            <a:off x="540000" y="4806000"/>
            <a:ext cx="11160000" cy="2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F2328"/>
                </a:solidFill>
              </a:rPr>
              <a:t>📲  UPI is #1 payment method — cashback and reward partnerships can drive loyalty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33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134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FFFFFF"/>
                </a:solidFill>
              </a:rPr>
              <a:t>IBM SkillsBuild · Data Analytics with AI Internship 2026</a:t>
            </a:r>
          </a:p>
        </p:txBody>
      </p:sp>
      <p:sp>
        <p:nvSpPr>
          <p:cNvPr id="100135" name="SlideNum"/>
          <p:cNvSpPr txBox="1"/>
          <p:nvPr/>
        </p:nvSpPr>
        <p:spPr>
          <a:xfrm xmlns:a="http://schemas.openxmlformats.org/drawingml/2006/main">
            <a:off x="10800000" y="216000"/>
            <a:ext cx="108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B82D4"/>
                </a:solidFill>
              </a:rPr>
              <a:t>10</a:t>
            </a:r>
          </a:p>
        </p:txBody>
      </p:sp>
      <p:sp>
        <p:nvSpPr>
          <p:cNvPr id="100136" name="Title"/>
          <p:cNvSpPr txBox="1"/>
          <p:nvPr/>
        </p:nvSpPr>
        <p:spPr>
          <a:xfrm xmlns:a="http://schemas.openxmlformats.org/drawingml/2006/main">
            <a:off x="540000" y="288000"/>
            <a:ext cx="10080000" cy="50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E3A5F"/>
                </a:solidFill>
                <a:latin typeface="Calibri"/>
                <a:ea typeface="Calibri"/>
              </a:rPr>
              <a:t>Business Recommendations</a:t>
            </a:r>
          </a:p>
        </p:txBody>
      </p:sp>
      <p:sp>
        <p:nvSpPr>
          <p:cNvPr id="100137" name="Divider"/>
          <p:cNvSpPr txBox="1"/>
          <p:nvPr/>
        </p:nvSpPr>
        <p:spPr>
          <a:xfrm xmlns:a="http://schemas.openxmlformats.org/drawingml/2006/main">
            <a:off x="540000" y="864000"/>
            <a:ext cx="111600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B82D4"/>
              </a:solidFill>
            </a:endParaRPr>
          </a:p>
        </p:txBody>
      </p:sp>
      <p:sp>
        <p:nvSpPr>
          <p:cNvPr id="100138" name="R1"/>
          <p:cNvSpPr txBox="1"/>
          <p:nvPr/>
        </p:nvSpPr>
        <p:spPr>
          <a:xfrm xmlns:a="http://schemas.openxmlformats.org/drawingml/2006/main">
            <a:off x="540000" y="972000"/>
            <a:ext cx="540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F2328"/>
                </a:solidFill>
              </a:rPr>
              <a:t>1  Expand Beverages &amp; Personal Care</a:t>
            </a:r>
          </a:p>
          <a:p xmlns:a="http://schemas.openxmlformats.org/drawingml/2006/main">
            <a:r>
              <a:rPr lang="en-US" sz="1200">
                <a:solidFill>
                  <a:srgbClr val="1F2328"/>
                </a:solidFill>
              </a:rPr>
              <a:t>Top-2 revenue categories. Increase SKU variety, negotiate better supplier margins, and assign prime shelf space. Combined: ₹1,02,052 (41.8% of revenue).</a:t>
            </a:r>
          </a:p>
        </p:txBody>
      </p:sp>
      <p:sp>
        <p:nvSpPr>
          <p:cNvPr id="100139" name="R2"/>
          <p:cNvSpPr txBox="1"/>
          <p:nvPr/>
        </p:nvSpPr>
        <p:spPr>
          <a:xfrm xmlns:a="http://schemas.openxmlformats.org/drawingml/2006/main">
            <a:off x="6120000" y="972000"/>
            <a:ext cx="558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F2328"/>
                </a:solidFill>
              </a:rPr>
              <a:t>2  Revive Bakery Category</a:t>
            </a:r>
          </a:p>
          <a:p xmlns:a="http://schemas.openxmlformats.org/drawingml/2006/main">
            <a:r>
              <a:rPr lang="en-US" sz="1200">
                <a:solidFill>
                  <a:srgbClr val="1F2328"/>
                </a:solidFill>
              </a:rPr>
              <a:t>Highest avg rating (4.24) but lowest revenue (₹6,516). Increase variety, improve visibility, and introduce bundled promotions to convert satisfaction into sales volume.</a:t>
            </a:r>
          </a:p>
        </p:txBody>
      </p:sp>
      <p:sp>
        <p:nvSpPr>
          <p:cNvPr id="100140" name="R3"/>
          <p:cNvSpPr txBox="1"/>
          <p:nvPr/>
        </p:nvSpPr>
        <p:spPr>
          <a:xfrm xmlns:a="http://schemas.openxmlformats.org/drawingml/2006/main">
            <a:off x="540000" y="2160000"/>
            <a:ext cx="540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F2328"/>
                </a:solidFill>
              </a:rPr>
              <a:t>3  Strengthen Mumbai &amp; Delhi</a:t>
            </a:r>
          </a:p>
          <a:p xmlns:a="http://schemas.openxmlformats.org/drawingml/2006/main">
            <a:r>
              <a:rPr lang="en-US" sz="1200">
                <a:solidFill>
                  <a:srgbClr val="1F2328"/>
                </a:solidFill>
              </a:rPr>
              <a:t>Top-2 cities accounting for 55.8% of revenue. Prioritise new product launches and exclusive in-store events. Mumbai Branch C alone: ₹72,469.</a:t>
            </a:r>
          </a:p>
        </p:txBody>
      </p:sp>
      <p:sp>
        <p:nvSpPr>
          <p:cNvPr id="100141" name="R4"/>
          <p:cNvSpPr txBox="1"/>
          <p:nvPr/>
        </p:nvSpPr>
        <p:spPr>
          <a:xfrm xmlns:a="http://schemas.openxmlformats.org/drawingml/2006/main">
            <a:off x="6120000" y="2160000"/>
            <a:ext cx="558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F2328"/>
                </a:solidFill>
              </a:rPr>
              <a:t>4  Grow Jaipur (Lowest Revenue City)</a:t>
            </a:r>
          </a:p>
          <a:p xmlns:a="http://schemas.openxmlformats.org/drawingml/2006/main">
            <a:r>
              <a:rPr lang="en-US" sz="1200">
                <a:solidFill>
                  <a:srgbClr val="1F2328"/>
                </a:solidFill>
              </a:rPr>
              <a:t>Jaipur at ₹52,357 — 28% below Mumbai. Targeted local campaigns, festive promotions, and price-sensitive offers can close this gap.</a:t>
            </a:r>
          </a:p>
        </p:txBody>
      </p:sp>
      <p:sp>
        <p:nvSpPr>
          <p:cNvPr id="100142" name="R5"/>
          <p:cNvSpPr txBox="1"/>
          <p:nvPr/>
        </p:nvSpPr>
        <p:spPr>
          <a:xfrm xmlns:a="http://schemas.openxmlformats.org/drawingml/2006/main">
            <a:off x="540000" y="3348000"/>
            <a:ext cx="540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F2328"/>
                </a:solidFill>
              </a:rPr>
              <a:t>5  Double Down on UPI Rewards</a:t>
            </a:r>
          </a:p>
          <a:p xmlns:a="http://schemas.openxmlformats.org/drawingml/2006/main">
            <a:r>
              <a:rPr lang="en-US" sz="1200">
                <a:solidFill>
                  <a:srgbClr val="1F2328"/>
                </a:solidFill>
              </a:rPr>
              <a:t>UPI leads at 27.8% share (₹67,910). Partner with UPI providers for cashback incentives to increase frequency and basket size among digital payers.</a:t>
            </a:r>
          </a:p>
        </p:txBody>
      </p:sp>
      <p:sp>
        <p:nvSpPr>
          <p:cNvPr id="100143" name="R6"/>
          <p:cNvSpPr txBox="1"/>
          <p:nvPr/>
        </p:nvSpPr>
        <p:spPr>
          <a:xfrm xmlns:a="http://schemas.openxmlformats.org/drawingml/2006/main">
            <a:off x="6120000" y="3348000"/>
            <a:ext cx="558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FF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F2328"/>
                </a:solidFill>
              </a:rPr>
              <a:t>6  Convert Normal → Member Customers</a:t>
            </a:r>
          </a:p>
          <a:p xmlns:a="http://schemas.openxmlformats.org/drawingml/2006/main">
            <a:r>
              <a:rPr lang="en-US" sz="1200">
                <a:solidFill>
                  <a:srgbClr val="1F2328"/>
                </a:solidFill>
              </a:rPr>
              <a:t>Members: 296 txns | ₹1,43,009. Normal: 204 txns | ₹1,01,402. Offer sign-up incentives — even a 10% conversion rate adds ~₹5,000 in recurring value.</a:t>
            </a:r>
          </a:p>
        </p:txBody>
      </p:sp>
      <p:sp>
        <p:nvSpPr>
          <p:cNvPr id="100144" name="R7"/>
          <p:cNvSpPr txBox="1"/>
          <p:nvPr/>
        </p:nvSpPr>
        <p:spPr>
          <a:xfrm xmlns:a="http://schemas.openxmlformats.org/drawingml/2006/main">
            <a:off x="540000" y="4536000"/>
            <a:ext cx="54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F2328"/>
                </a:solidFill>
              </a:rPr>
              <a:t>7  Peak-Period Promotions</a:t>
            </a:r>
          </a:p>
          <a:p xmlns:a="http://schemas.openxmlformats.org/drawingml/2006/main">
            <a:r>
              <a:rPr lang="en-US" sz="1200">
                <a:solidFill>
                  <a:srgbClr val="1F2328"/>
                </a:solidFill>
              </a:rPr>
              <a:t>Schedule flash sales on Mondays (peak day ₹42,602) and ahead of April (peak month ₹52,570). Staff up and pre-stock high-velocity SKUs.</a:t>
            </a:r>
          </a:p>
        </p:txBody>
      </p:sp>
      <p:sp>
        <p:nvSpPr>
          <p:cNvPr id="100145" name="R8"/>
          <p:cNvSpPr txBox="1"/>
          <p:nvPr/>
        </p:nvSpPr>
        <p:spPr>
          <a:xfrm xmlns:a="http://schemas.openxmlformats.org/drawingml/2006/main">
            <a:off x="6120000" y="4536000"/>
            <a:ext cx="558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1F2328"/>
                </a:solidFill>
              </a:rPr>
              <a:t>8  Upsell &amp; Basket Expansion</a:t>
            </a:r>
          </a:p>
          <a:p xmlns:a="http://schemas.openxmlformats.org/drawingml/2006/main">
            <a:r>
              <a:rPr lang="en-US" sz="1200">
                <a:solidFill>
                  <a:srgbClr val="1F2328"/>
                </a:solidFill>
              </a:rPr>
              <a:t>Avg basket ₹488.82. Introduce combo offers, quantity discounts (e.g. 3-for-2 on Snacks), and cross-category bundles to push average above ₹550.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E3A5F"/>
        </a:solidFill>
      </p:bgPr>
    </p:bg>
    <p:spTree>
      <p:nvGrpSpPr>
        <p:cNvPr id="1" name=""/>
        <p:cNvGrpSpPr/>
        <p:nvPr/>
      </p:nvGrpSpPr>
      <p:grpSpPr/>
      <p:sp>
        <p:nvSpPr>
          <p:cNvPr id="100146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147" name="BottomBar"/>
          <p:cNvSpPr txBox="1"/>
          <p:nvPr/>
        </p:nvSpPr>
        <p:spPr>
          <a:xfrm xmlns:a="http://schemas.openxmlformats.org/drawingml/2006/main">
            <a:off x="0" y="6660000"/>
            <a:ext cx="121932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FFFFFF"/>
                </a:solidFill>
              </a:rPr>
              <a:t>IBM SkillsBuild · Data Analytics with AI Internship 2026</a:t>
            </a:r>
          </a:p>
        </p:txBody>
      </p:sp>
      <p:sp>
        <p:nvSpPr>
          <p:cNvPr id="100148" name="ThankYou"/>
          <p:cNvSpPr txBox="1"/>
          <p:nvPr/>
        </p:nvSpPr>
        <p:spPr>
          <a:xfrm xmlns:a="http://schemas.openxmlformats.org/drawingml/2006/main">
            <a:off x="540000" y="1620000"/>
            <a:ext cx="1116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FFFFFF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100149" name="Sub"/>
          <p:cNvSpPr txBox="1"/>
          <p:nvPr/>
        </p:nvSpPr>
        <p:spPr>
          <a:xfrm xmlns:a="http://schemas.openxmlformats.org/drawingml/2006/main">
            <a:off x="540000" y="2880000"/>
            <a:ext cx="1116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A8C8F0"/>
                </a:solidFill>
                <a:latin typeface="Calibri"/>
                <a:ea typeface="Calibri"/>
              </a:rPr>
              <a:t>Supermarket Sales Analysis · IBM SkillsBuild Data Analytics Internship 2026</a:t>
            </a:r>
          </a:p>
        </p:txBody>
      </p:sp>
      <p:sp>
        <p:nvSpPr>
          <p:cNvPr id="100150" name="SummaryBox"/>
          <p:cNvSpPr txBox="1"/>
          <p:nvPr/>
        </p:nvSpPr>
        <p:spPr>
          <a:xfrm xmlns:a="http://schemas.openxmlformats.org/drawingml/2006/main">
            <a:off x="540000" y="3780000"/>
            <a:ext cx="1116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94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D0E4F7"/>
                </a:solidFill>
              </a:rPr>
              <a:t>Total Revenue: ₹2,44,411  ·  500 Transactions  ·  4 Cities  ·  8 Categories  ·  20 Products</a:t>
            </a:r>
          </a:p>
          <a:p xmlns:a="http://schemas.openxmlformats.org/drawingml/2006/main">
            <a:r>
              <a:rPr lang="en-US" sz="1400" b="0">
                <a:solidFill>
                  <a:srgbClr val="D0E4F7"/>
                </a:solidFill>
              </a:rPr>
              <a:t>Peak Month: April 2026  ·  Peak Day: Monday  ·  Top City: Mumbai  ·  Top Category: Beverages</a:t>
            </a:r>
          </a:p>
        </p:txBody>
      </p:sp>
      <p:sp>
        <p:nvSpPr>
          <p:cNvPr id="100151" name="BuiltWith"/>
          <p:cNvSpPr txBox="1"/>
          <p:nvPr/>
        </p:nvSpPr>
        <p:spPr>
          <a:xfrm xmlns:a="http://schemas.openxmlformats.org/drawingml/2006/main">
            <a:off x="540000" y="4860000"/>
            <a:ext cx="1116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CA8D4"/>
                </a:solidFill>
              </a:rPr>
              <a:t>Built with  Python · Pandas · Matplotlib · Seaborn · Streamlit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2026-09-08T10:56:05Z</dcterms:created>
  <cp:lastModifiedBy>OfficeCLI</cp:lastModifiedBy>
  <dcterms:modified xsi:type="dcterms:W3CDTF">2026-09-08T10:56:05Z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2026-09-08T11:00:32Z</vt:lpwstr>
  </op:property>
</op:Properties>
</file>